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3749039"/>
            <a:ext cx="6400800" cy="6400800"/>
          </a:xfrm>
          <a:prstGeom prst="ellipse">
            <a:avLst/>
          </a:prstGeom>
          <a:solidFill>
            <a:srgbClr val="4ADE80">
              <a:alpha val="12000"/>
            </a:srgbClr>
          </a:solidFill>
          <a:ln>
            <a:noFill/>
          </a:ln>
          <a:effectLst>
            <a:softEdge rad="164592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-jus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77240"/>
            <a:ext cx="12191695" cy="812489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acticerank-logo-3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SEO &amp; AI-Search
Growth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886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9AA6B4"/>
                </a:solidFill>
                <a:latin typeface="Calibri"/>
              </a:rPr>
              <a:t>Prepared for </a:t>
            </a:r>
            <a:r>
              <a:rPr sz="2200" b="1">
                <a:solidFill>
                  <a:srgbClr val="4ADE80"/>
                </a:solidFill>
                <a:latin typeface="Calibri"/>
              </a:rPr>
              <a:t>Parian Lawyers</a:t>
            </a:r>
            <a:r>
              <a:rPr sz="2200" b="0">
                <a:solidFill>
                  <a:srgbClr val="9AA6B4"/>
                </a:solidFill>
                <a:latin typeface="Calibri"/>
              </a:rPr>
              <a:t>   ·   Carrollton, Georgia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572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AA6B4"/>
                </a:solidFill>
                <a:latin typeface="Calibri"/>
              </a:rPr>
              <a:t>Personal Injury Law Firm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6B4"/>
                </a:solidFill>
                <a:latin typeface="Calibri"/>
              </a:rPr>
              <a:t>PracticeRank  ·  practicerank.ai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WHO YOU'RE WORKING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Meet Your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11680"/>
            <a:ext cx="5349240" cy="33832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2423160"/>
            <a:ext cx="822960" cy="8229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468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4210F"/>
                </a:solidFill>
                <a:latin typeface="Calibri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3774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Dan Toone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Client Relations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47472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B4"/>
                </a:solidFill>
                <a:latin typeface="Calibri"/>
              </a:rPr>
              <a:t>Your dedicated day-to-day point of contact. Dan keeps you informed, coordinates approvals, and makes sure every deliverable ships on time — so you always know exactly what's happening and what's next.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011680"/>
            <a:ext cx="5349240" cy="33832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2423160"/>
            <a:ext cx="822960" cy="8229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468880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04210F"/>
                </a:solidFill>
                <a:latin typeface="Calibri"/>
              </a:rPr>
              <a:t>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3774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Kody Doherty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Chief Technology Officer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74720"/>
            <a:ext cx="4572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B4"/>
                </a:solidFill>
                <a:latin typeface="Calibri"/>
              </a:rPr>
              <a:t>Leads the technical SEO, automation, and AI-search engineering behind your growth — the systems that get you found across Google, Maps, and AI assistants.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How Customers Find You Has Changed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AA6B4"/>
                </a:solidFill>
                <a:latin typeface="Calibri"/>
              </a:rPr>
              <a:t>People don't just “Google it” anymore. They search Google, tap the Maps 3-pack, and increasingly ask AI assistants for a recommendation. Winning today means showing up in all of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3474720" cy="237744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33832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DE80"/>
                </a:solidFill>
                <a:latin typeface="Calibri"/>
              </a:rPr>
              <a:t>Google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06908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B4"/>
                </a:solidFill>
                <a:latin typeface="Calibri"/>
              </a:rPr>
              <a:t>Organic rankings for the searches that bring you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108960"/>
            <a:ext cx="3474720" cy="237744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33832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DE80"/>
                </a:solidFill>
                <a:latin typeface="Calibri"/>
              </a:rPr>
              <a:t>Google &amp; Apple Maps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406908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B4"/>
                </a:solidFill>
                <a:latin typeface="Calibri"/>
              </a:rPr>
              <a:t>The local 3-pack — where most “near me” clicks 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108960"/>
            <a:ext cx="3474720" cy="237744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199" y="33832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ADE80"/>
                </a:solidFill>
                <a:latin typeface="Calibri"/>
              </a:rPr>
              <a:t>AI Assistants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9" y="4069080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6B4"/>
                </a:solidFill>
                <a:latin typeface="Calibri"/>
              </a:rPr>
              <a:t>ChatGPT, Gemini, Perplexity &amp; Google AI recommending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OUR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A Well-Rounded Approach — Every Signal Covered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03120"/>
            <a:ext cx="2606040" cy="1325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Technical SEO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03120"/>
            <a:ext cx="2606040" cy="1325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28600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On-Page SEO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03120"/>
            <a:ext cx="2606040" cy="1325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Schema / Structured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2103120"/>
            <a:ext cx="2606040" cy="1325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39" y="228600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Local SEO &amp; Google 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2606040" cy="1325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84048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Content &amp; Authority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657600"/>
            <a:ext cx="2606040" cy="1325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84048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AI-Search (AEO)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57600"/>
            <a:ext cx="2606040" cy="1325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84048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Reviews &amp; Reputation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39" y="3657600"/>
            <a:ext cx="2606040" cy="1325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39" y="384048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Conversion &amp; UX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4406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6B4"/>
                </a:solidFill>
                <a:latin typeface="Calibri"/>
              </a:rPr>
              <a:t>We don't do one thing well — we cover every signal Google and AI engines use to find, trust, and recommend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THE PROBLEMS WE 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What We 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11680"/>
            <a:ext cx="5349240" cy="123444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7627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Invisible in “near me” searches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7004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Local SEO + Google Business Profile + city/neighborhood 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011680"/>
            <a:ext cx="5349240" cy="123444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17627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Site doesn't tell Google what you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67004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Keyword-rich service pages + complete schema markup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5349240" cy="123444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9359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Not showing up in AI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8736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llms.txt, structured data &amp; AI-readable content (AEO)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29000"/>
            <a:ext cx="5349240" cy="123444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59359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Thin or off-target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08736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Buyer-intent content + a focused blog strategy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46320"/>
            <a:ext cx="5349240" cy="123444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Low domain authority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50468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A few HIGH-value local backlinks + citation cleanup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846320"/>
            <a:ext cx="5349240" cy="123444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0109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✗  Few or aging reviews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504688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ADE80"/>
                </a:solidFill>
                <a:latin typeface="Calibri"/>
              </a:rPr>
              <a:t>→  Automated review engine + reputation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THE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Where Parian Lawyers Stands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AA6B4"/>
                </a:solidFill>
                <a:latin typeface="Calibri"/>
              </a:rPr>
              <a:t>You've already built a strong local reputation — the opportunity is turning it into search and AI dominance.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10607040" cy="502920"/>
          </a:xfrm>
          <a:prstGeom prst="roundRect">
            <a:avLst/>
          </a:prstGeom>
          <a:solidFill>
            <a:srgbClr val="16213E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65176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6517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Parian Lawyers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5176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your top local rivals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9" y="2651760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Gap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10607040" cy="658368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218688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6B4"/>
                </a:solidFill>
                <a:latin typeface="Calibri"/>
              </a:rPr>
              <a:t>Google 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18688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162  ·  4.9★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18688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ADE80"/>
                </a:solidFill>
                <a:latin typeface="Calibri"/>
              </a:rPr>
              <a:t>83–148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9" y="3218688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DE80"/>
                </a:solidFill>
                <a:latin typeface="Calibri"/>
              </a:rPr>
              <a:t>You lead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767328"/>
            <a:ext cx="10607040" cy="658368"/>
          </a:xfrm>
          <a:prstGeom prst="roundRect">
            <a:avLst/>
          </a:prstGeom>
          <a:solidFill>
            <a:srgbClr val="08080D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877056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6B4"/>
                </a:solidFill>
                <a:latin typeface="Calibri"/>
              </a:rPr>
              <a:t>Domain Authority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877056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877056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ADE80"/>
                </a:solidFill>
                <a:latin typeface="Calibri"/>
              </a:rPr>
              <a:t>single digits (most)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59" y="3877056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DE80"/>
                </a:solidFill>
                <a:latin typeface="Calibri"/>
              </a:rPr>
              <a:t>You lead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25696"/>
            <a:ext cx="10607040" cy="658368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4535424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6B4"/>
                </a:solidFill>
                <a:latin typeface="Calibri"/>
              </a:rPr>
              <a:t>AI search visibility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535424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0 of 68 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535424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ADE80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59" y="4535424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4ADE80"/>
                </a:solidFill>
                <a:latin typeface="Calibri"/>
              </a:rPr>
              <a:t>Biggest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989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AA6B4"/>
                </a:solidFill>
                <a:latin typeface="Calibri"/>
              </a:rPr>
              <a:t>Google · Moz · AI-visibility scan, June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Domain Authority — and Why ~30 Is the Goal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83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9AA6B4"/>
                </a:solidFill>
                <a:latin typeface="Calibri"/>
              </a:rPr>
              <a:t>Domain Authority (0–100) is a trust score for your website — built mostly from quality backlinks. The higher it climbs, the easier everything else ranks.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2834640"/>
            <a:ext cx="32004" cy="59436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42316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ADE80"/>
                </a:solidFill>
                <a:latin typeface="Calibri"/>
              </a:rPr>
              <a:t>YOUR TARGET  ~30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ADE80"/>
                </a:solidFill>
                <a:latin typeface="Calibri"/>
              </a:rPr>
              <a:t>Parian Lawyers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916936"/>
            <a:ext cx="5852160" cy="329184"/>
          </a:xfrm>
          <a:prstGeom prst="rect">
            <a:avLst/>
          </a:prstGeom>
          <a:solidFill>
            <a:srgbClr val="12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1920" y="2916936"/>
            <a:ext cx="4242816" cy="32918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880360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ADE80"/>
                </a:solidFill>
                <a:latin typeface="Calibri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7492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DCE2E8"/>
                </a:solidFill>
                <a:latin typeface="Calibri"/>
              </a:rPr>
              <a:t>Most local firms sit in the single digits to low teens. You're already at 29 — basically the ~30 sweet spot that beats nearly every local competitor. So authority isn't your gap; AI-search visibility is. We protect this lead and turn it into more rankings and AI recommendations.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9963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E6A79"/>
                </a:solidFill>
                <a:latin typeface="Calibri"/>
              </a:rPr>
              <a:t>Domain Authority — Moz, June 2026   ·   Backlinks are the #1 lever for raising Domain Authority.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NEXT STEPS ·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Building Authority — Citations &amp; Backlinks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AA6B4"/>
                </a:solidFill>
                <a:latin typeface="Calibri"/>
              </a:rPr>
              <a:t>Quality over volume: the work that raises your Domain Authority toward ~30 and gets you cited by 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450">
                <a:solidFill>
                  <a:srgbClr val="4ADE80"/>
                </a:solidFill>
              </a:rPr>
              <a:t>—  </a:t>
            </a:r>
            <a:r>
              <a:rPr sz="1450">
                <a:solidFill>
                  <a:srgbClr val="FFFFFF"/>
                </a:solidFill>
                <a:latin typeface="Calibri"/>
              </a:rPr>
              <a:t>Aggressive local citation building + NAP cleanup across the directories that matter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450">
                <a:solidFill>
                  <a:srgbClr val="4ADE80"/>
                </a:solidFill>
              </a:rPr>
              <a:t>—  </a:t>
            </a:r>
            <a:r>
              <a:rPr sz="1450">
                <a:solidFill>
                  <a:srgbClr val="FFFFFF"/>
                </a:solidFill>
                <a:latin typeface="Calibri"/>
              </a:rPr>
              <a:t>“Best Injury Lawyer in West Georgia” comparison placements — rank for high-intent searches AND get cited by AI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450">
                <a:solidFill>
                  <a:srgbClr val="4ADE80"/>
                </a:solidFill>
              </a:rPr>
              <a:t>—  </a:t>
            </a:r>
            <a:r>
              <a:rPr sz="1450">
                <a:solidFill>
                  <a:srgbClr val="FFFFFF"/>
                </a:solidFill>
                <a:latin typeface="Calibri"/>
              </a:rPr>
              <a:t>High-authority backlinks from real, locally-relevant sites — no spam, no risky tactics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450">
                <a:solidFill>
                  <a:srgbClr val="4ADE80"/>
                </a:solidFill>
              </a:rPr>
              <a:t>—  </a:t>
            </a:r>
            <a:r>
              <a:rPr sz="1450">
                <a:solidFill>
                  <a:srgbClr val="FFFFFF"/>
                </a:solidFill>
                <a:latin typeface="Calibri"/>
              </a:rPr>
              <a:t>Local press, partner &amp; supplier links for authoritative mentions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450">
                <a:solidFill>
                  <a:srgbClr val="4ADE80"/>
                </a:solidFill>
              </a:rPr>
              <a:t>—  </a:t>
            </a:r>
            <a:r>
              <a:rPr sz="1450">
                <a:solidFill>
                  <a:srgbClr val="FFFFFF"/>
                </a:solidFill>
                <a:latin typeface="Calibri"/>
              </a:rPr>
              <a:t>A steady monthly cadence — compounding authority that competitors can't shortcut</a:t>
            </a:r>
          </a:p>
        </p:txBody>
      </p:sp>
      <p:pic>
        <p:nvPicPr>
          <p:cNvPr id="14" name="Picture 13" descr="law-off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697480"/>
            <a:ext cx="3931920" cy="2624328"/>
          </a:xfrm>
          <a:prstGeom prst="rect">
            <a:avLst/>
          </a:prstGeom>
          <a:ln w="12700">
            <a:solidFill>
              <a:srgbClr val="232C39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NEXT STEPS ·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Content &amp; Blog — Capture Ready-to-Buy Searches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8288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AA6B4"/>
                </a:solidFill>
                <a:latin typeface="Calibri"/>
              </a:rPr>
              <a:t>Shift from curiosity content to buyer-intent content that brings customers through the door.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500">
                <a:solidFill>
                  <a:srgbClr val="4ADE80"/>
                </a:solidFill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Target real transactional searches from your Google data, like "car accident lawyer Carrollton GA", "personal injury attorney near me"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500">
                <a:solidFill>
                  <a:srgbClr val="4ADE80"/>
                </a:solidFill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Expand &amp; refresh landing pages as we find new demand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500">
                <a:solidFill>
                  <a:srgbClr val="4ADE80"/>
                </a:solidFill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2–4 new posts per month on high-intent topics, refreshed to keep ranking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500">
                <a:solidFill>
                  <a:srgbClr val="4ADE80"/>
                </a:solidFill>
              </a:rPr>
              <a:t>—  </a:t>
            </a:r>
            <a:r>
              <a:rPr sz="1500">
                <a:solidFill>
                  <a:srgbClr val="FFFFFF"/>
                </a:solidFill>
                <a:latin typeface="Calibri"/>
              </a:rPr>
              <a:t>FAQ content structured for Google snippets and AI answers</a:t>
            </a:r>
          </a:p>
        </p:txBody>
      </p:sp>
      <p:pic>
        <p:nvPicPr>
          <p:cNvPr id="14" name="Picture 13" descr="consul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697480"/>
            <a:ext cx="3931920" cy="2624328"/>
          </a:xfrm>
          <a:prstGeom prst="rect">
            <a:avLst/>
          </a:prstGeom>
          <a:ln w="12700">
            <a:solidFill>
              <a:srgbClr val="232C39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THE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Your 90-Day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3474720" cy="2468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194560"/>
            <a:ext cx="3474720" cy="64008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4028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4210F"/>
                </a:solidFill>
                <a:latin typeface="Calibri"/>
              </a:rPr>
              <a:t>Month 1 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6B4"/>
                </a:solidFill>
                <a:latin typeface="Calibri"/>
              </a:rPr>
              <a:t>Technical foundation, Google Business Profile, homepage rebuild, service &amp; location landing pages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94560"/>
            <a:ext cx="3474720" cy="2468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2194560"/>
            <a:ext cx="3474720" cy="64008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24028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4210F"/>
                </a:solidFill>
                <a:latin typeface="Calibri"/>
              </a:rPr>
              <a:t>Month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0896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6B4"/>
                </a:solidFill>
                <a:latin typeface="Calibri"/>
              </a:rPr>
              <a:t>Authority backlinks (raise Domain Authority), on-page depth, content cadence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2194560"/>
            <a:ext cx="3474720" cy="246888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59" y="2194560"/>
            <a:ext cx="3474720" cy="64008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2240280"/>
            <a:ext cx="3474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4210F"/>
                </a:solidFill>
                <a:latin typeface="Calibri"/>
              </a:rPr>
              <a:t>Month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2926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AA6B4"/>
                </a:solidFill>
                <a:latin typeface="Calibri"/>
              </a:rPr>
              <a:t>Authority push, review growth, measure &amp; iterate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0749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9AA6B4"/>
                </a:solidFill>
                <a:latin typeface="Calibri"/>
              </a:rPr>
              <a:t>Goal:  </a:t>
            </a:r>
            <a:r>
              <a:rPr sz="1700" b="1">
                <a:solidFill>
                  <a:srgbClr val="4ADE80"/>
                </a:solidFill>
                <a:latin typeface="Calibri"/>
              </a:rPr>
              <a:t>Top-3 Map Pack + AI recommendations for your core injury keywords within 6 months</a:t>
            </a:r>
            <a:r>
              <a:rPr sz="1400" b="0">
                <a:solidFill>
                  <a:srgbClr val="9AA6B4"/>
                </a:solidFill>
                <a:latin typeface="Calibri"/>
              </a:rPr>
              <a:t>   — backed by our 90-day score guarantee.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566928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ADE80"/>
                </a:solidFill>
                <a:latin typeface="Calibri"/>
              </a:rPr>
              <a:t>YOUR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89611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Three Ways to Grow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1627632"/>
            <a:ext cx="731520" cy="50292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1908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00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practicerank.ai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0080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A79"/>
                </a:solidFill>
                <a:latin typeface="Calibri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11680"/>
            <a:ext cx="3474720" cy="388620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1284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Optimize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2432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DE80"/>
                </a:solidFill>
                <a:latin typeface="Calibri"/>
              </a:rPr>
              <a:t>The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4ADE80"/>
                </a:solidFill>
                <a:latin typeface="Calibri"/>
              </a:rPr>
              <a:t>$1,500</a:t>
            </a:r>
            <a:r>
              <a:rPr sz="1400" b="0">
                <a:solidFill>
                  <a:srgbClr val="9AA6B4"/>
                </a:solidFill>
                <a:latin typeface="Calibri"/>
              </a:rPr>
              <a:t>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Local SEO + AI-search foundation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100 local citations + Google Business Profile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2 content + 1 backlink / mo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Review funnel + monthly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011680"/>
            <a:ext cx="3474720" cy="3886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40679" y="1847088"/>
            <a:ext cx="1371600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79" y="1856231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4210F"/>
                </a:solidFill>
                <a:latin typeface="Calibri"/>
              </a:rPr>
              <a:t>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21284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Grow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62432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DE80"/>
                </a:solidFill>
                <a:latin typeface="Calibri"/>
              </a:rPr>
              <a:t>The Growth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2004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4ADE80"/>
                </a:solidFill>
                <a:latin typeface="Calibri"/>
              </a:rPr>
              <a:t>$2,500</a:t>
            </a:r>
            <a:r>
              <a:rPr sz="1400" b="0">
                <a:solidFill>
                  <a:srgbClr val="9AA6B4"/>
                </a:solidFill>
                <a:latin typeface="Calibri"/>
              </a:rPr>
              <a:t>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931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Everything in Optimize, plus: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New site on our fast managed platform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4 content + 2 backlinks / mo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Practice-area + city pages, keyword tracking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2011680"/>
            <a:ext cx="3474720" cy="3886200"/>
          </a:xfrm>
          <a:prstGeom prst="roundRect">
            <a:avLst/>
          </a:prstGeom>
          <a:solidFill>
            <a:srgbClr val="121822"/>
          </a:solidFill>
          <a:ln w="9525">
            <a:solidFill>
              <a:srgbClr val="232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21284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Calibri"/>
              </a:rPr>
              <a:t>Dominate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2432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ADE80"/>
                </a:solidFill>
                <a:latin typeface="Calibri"/>
              </a:rPr>
              <a:t>Market Domination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2004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4ADE80"/>
                </a:solidFill>
                <a:latin typeface="Calibri"/>
              </a:rPr>
              <a:t>$3,500</a:t>
            </a:r>
            <a:r>
              <a:rPr sz="1400" b="0">
                <a:solidFill>
                  <a:srgbClr val="9AA6B4"/>
                </a:solidFill>
                <a:latin typeface="Calibri"/>
              </a:rPr>
              <a:t>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93192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Everything in Grow, plus: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4 high-authority backlinks / mo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“Best injury lawyer in West GA” comparison placements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b="1" sz="1050">
                <a:solidFill>
                  <a:srgbClr val="4ADE80"/>
                </a:solidFill>
              </a:rPr>
              <a:t>✓  </a:t>
            </a:r>
            <a:r>
              <a:rPr sz="1050">
                <a:solidFill>
                  <a:srgbClr val="FFFFFF"/>
                </a:solidFill>
                <a:latin typeface="Calibri"/>
              </a:rPr>
              <a:t>Aggressive citations + AI authority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05332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ADE80"/>
                </a:solidFill>
                <a:latin typeface="Calibri"/>
              </a:rPr>
              <a:t>Pricing tailored to your market.  ·  Month-to-month, no long-term contracts.  ·  Backed by our 90-day guarantee.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3749039"/>
            <a:ext cx="6400800" cy="6400800"/>
          </a:xfrm>
          <a:prstGeom prst="ellipse">
            <a:avLst/>
          </a:prstGeom>
          <a:solidFill>
            <a:srgbClr val="4ADE80">
              <a:alpha val="12000"/>
            </a:srgbClr>
          </a:solidFill>
          <a:ln>
            <a:noFill/>
          </a:ln>
          <a:effectLst>
            <a:softEdge rad="164592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ADE80"/>
                </a:solidFill>
                <a:latin typeface="Calibri"/>
              </a:rPr>
              <a:t>OUR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The 90-Day Results-or-Refund Guarantee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18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9AA6B4"/>
                </a:solidFill>
                <a:latin typeface="Calibri"/>
              </a:rPr>
              <a:t>If your PracticeRank Score doesn't improve by 20+ points in 90 days, we refund your monthly fees — and you keep everything we built. Month-to-month. No long-term contracts.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58952" y="-4251960"/>
            <a:ext cx="13716000" cy="5943600"/>
          </a:xfrm>
          <a:prstGeom prst="ellipse">
            <a:avLst/>
          </a:prstGeom>
          <a:solidFill>
            <a:srgbClr val="16213E">
              <a:alpha val="46000"/>
            </a:srgbClr>
          </a:solidFill>
          <a:ln>
            <a:noFill/>
          </a:ln>
          <a:effectLst>
            <a:softEdge rad="146304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3749039"/>
            <a:ext cx="6400800" cy="6400800"/>
          </a:xfrm>
          <a:prstGeom prst="ellipse">
            <a:avLst/>
          </a:prstGeom>
          <a:solidFill>
            <a:srgbClr val="4ADE80">
              <a:alpha val="12000"/>
            </a:srgbClr>
          </a:solidFill>
          <a:ln>
            <a:noFill/>
          </a:ln>
          <a:effectLst>
            <a:softEdge rad="164592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acticerank-logo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82296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Let's grow your visibility.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9AA6B4"/>
                </a:solidFill>
                <a:latin typeface="Calibri"/>
              </a:rPr>
              <a:t>Found everywhere your customers search — Google, Maps, and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alibri"/>
              </a:rPr>
              <a:t>Dan Toone</a:t>
            </a:r>
            <a:r>
              <a:rPr sz="1800" b="0">
                <a:solidFill>
                  <a:srgbClr val="9AA6B4"/>
                </a:solidFill>
                <a:latin typeface="Calibri"/>
              </a:rPr>
              <a:t>  ·  Client Relations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DE80"/>
                </a:solidFill>
                <a:latin typeface="Calibri"/>
              </a:rPr>
              <a:t>Kody Doherty</a:t>
            </a:r>
            <a:r>
              <a:rPr sz="1800" b="0">
                <a:solidFill>
                  <a:srgbClr val="9AA6B4"/>
                </a:solidFill>
                <a:latin typeface="Calibri"/>
              </a:rPr>
              <a:t>  ·  Chief Technology Officer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9AA6B4"/>
                </a:solidFill>
                <a:latin typeface="Calibri"/>
              </a:rPr>
              <a:t>practicerank.ai  ·  kdoherty@practicerank.ai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