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ver-go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77240"/>
            <a:ext cx="12191695" cy="81248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acticerank-logo-3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914400" cy="914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210312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Calibri"/>
              </a:rPr>
              <a:t>SEO &amp; AI-Search
Growth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8620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9AA6B4"/>
                </a:solidFill>
                <a:latin typeface="Calibri"/>
              </a:rPr>
              <a:t>Prepared for </a:t>
            </a:r>
            <a:r>
              <a:rPr sz="2200" b="1">
                <a:solidFill>
                  <a:srgbClr val="4ADE80"/>
                </a:solidFill>
                <a:latin typeface="Calibri"/>
              </a:rPr>
              <a:t>Paradigm Experts</a:t>
            </a:r>
            <a:r>
              <a:rPr sz="2200" b="0">
                <a:solidFill>
                  <a:srgbClr val="9AA6B4"/>
                </a:solidFill>
                <a:latin typeface="Calibri"/>
              </a:rPr>
              <a:t>   ·   Springfield, Virginia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572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Gold, Silver &amp; Estate Jewelry Buyer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  ·  practicerank.ai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WHO YOU'RE WORKING WITH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Meet Your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Dan Toone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Client Relations Manager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Your dedicated day-to-day point of contact. Dan keeps you informed, coordinates approvals, and makes sure every deliverable ships on time — so you always know exactly what's happening and what's next.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2011680"/>
            <a:ext cx="5349240" cy="33832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766560" y="2423160"/>
            <a:ext cx="822960" cy="82296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468880"/>
            <a:ext cx="8229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04210F"/>
                </a:solidFill>
                <a:latin typeface="Calibri"/>
              </a:rPr>
              <a:t>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237744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Kody Doherty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283464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Chief Technology Officer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474720"/>
            <a:ext cx="4572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Leads the technical SEO, automation, and AI-search engineering behind your growth — the systems that get you found across Google, Maps, and AI assistants.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WHY THIS MATTERS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How Customers Find You Has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People don't just “Google it” anymore. They search Google, tap the Maps 3-pack, and increasingly ask AI assistants for a recommendation. Winning today means showing up in all of them.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1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1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Organic rankings for the searches that bring you customers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5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Google &amp; Apple Maps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The local 3-pack — where most “near me” clicks go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108960"/>
            <a:ext cx="3474720" cy="2377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199" y="338328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4ADE80"/>
                </a:solidFill>
                <a:latin typeface="Calibri"/>
              </a:rPr>
              <a:t>AI Assistants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199" y="4069080"/>
            <a:ext cx="29260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ChatGPT, Gemini, Perplexity &amp; Google AI recommending you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OUR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A Well-Rounded Approach — Every Signal Covered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Technical SEO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On-Page SEO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Schema / Structured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06839" y="210312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39" y="228600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Local SEO &amp; Google Profile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Content &amp; Authority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2900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AI-Search (AEO)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Reviews &amp; Reputation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39" y="3657600"/>
            <a:ext cx="2606040" cy="1325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39" y="3840480"/>
            <a:ext cx="2194560" cy="10058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Conversion &amp; UX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44068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We don't do one thing well — we cover every signal Google and AI engines use to find, trust, and recommend you.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PROBLEMS WE SOLVE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Invisible in “near me” searches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Local SEO + Google Business Profile + city/neighborhood pages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201168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217627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Site doesn't tell Google what you 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267004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Keyword-rich service pages + complete schema markup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Not showing up in AI answers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llms.txt, structured data &amp; AI-readable content (AEO)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342900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59359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Thin or off-target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08736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Buyer-intent content + a focused blog strategy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Low domain authority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 few HIGH-value local backlinks + citation cleanup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55080" y="4846320"/>
            <a:ext cx="5349240" cy="123444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9400" y="5010912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✗  Few or aging reviews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04688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ADE80"/>
                </a:solidFill>
                <a:latin typeface="Calibri"/>
              </a:rPr>
              <a:t>→  Automated review engine + reputation management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Where Paradigm Experts Stands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You're being out-ranked by Alexandria Gold &amp; Silver — but the gap is closeable, and we've mapped exactly how.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06040"/>
            <a:ext cx="10607040" cy="502920"/>
          </a:xfrm>
          <a:prstGeom prst="roundRect">
            <a:avLst/>
          </a:prstGeom>
          <a:solidFill>
            <a:srgbClr val="16213E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651760"/>
            <a:ext cx="4206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59" y="2651760"/>
            <a:ext cx="1463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Gap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08960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" y="3218688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Monthly organic visits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79" y="3218688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1,281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59" y="3218688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9.8x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767328"/>
            <a:ext cx="10607040" cy="658368"/>
          </a:xfrm>
          <a:prstGeom prst="roundRect">
            <a:avLst/>
          </a:prstGeom>
          <a:solidFill>
            <a:srgbClr val="08080D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" y="3877056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“Near me” keywords (top 10)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877056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49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6959" y="3877056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24x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425696"/>
            <a:ext cx="10607040" cy="658368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59" y="4535424"/>
            <a:ext cx="4206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Top-10 ranking keywords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4535424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ADE80"/>
                </a:solidFill>
                <a:latin typeface="Calibri"/>
              </a:rPr>
              <a:t>69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59" y="4535424"/>
            <a:ext cx="1463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ADE80"/>
                </a:solidFill>
                <a:latin typeface="Calibri"/>
              </a:rPr>
              <a:t>4.9x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59893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Source: competitive organic-search analysis,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AUTHORITY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Domain Authority — and Why ~30 Is the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783080"/>
            <a:ext cx="108813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Domain Authority (0–100) is a trust score for your website — built mostly from quality backlinks. The higher it climbs, the easier everything else ranks.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834640"/>
            <a:ext cx="32004" cy="2240279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423160"/>
            <a:ext cx="1645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YOUR TARGET  ~30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88036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0" y="291693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931920" y="2916936"/>
            <a:ext cx="2633472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1" y="288036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29000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4ADE80"/>
                </a:solidFill>
                <a:latin typeface="Calibri"/>
              </a:rPr>
              <a:t>Paradigm Experts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0" y="3465576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31920" y="3465576"/>
            <a:ext cx="2048256" cy="32918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429000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4ADE80"/>
                </a:solidFill>
                <a:latin typeface="Calibri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7763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Alexandria Gold &amp; Silver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401421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4014215"/>
            <a:ext cx="1609344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32704" y="397763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526279"/>
            <a:ext cx="30175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FFFFF"/>
                </a:solidFill>
                <a:latin typeface="Calibri"/>
              </a:rPr>
              <a:t>Cash for Gold NOVA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4562855"/>
            <a:ext cx="5852160" cy="329184"/>
          </a:xfrm>
          <a:prstGeom prst="rect">
            <a:avLst/>
          </a:prstGeom>
          <a:solidFill>
            <a:srgbClr val="1218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931920" y="4562855"/>
            <a:ext cx="1463040" cy="329184"/>
          </a:xfrm>
          <a:prstGeom prst="rect">
            <a:avLst/>
          </a:prstGeom>
          <a:solidFill>
            <a:srgbClr val="5A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4526279"/>
            <a:ext cx="5486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9AA6B4"/>
                </a:solidFill>
                <a:latin typeface="Calibri"/>
              </a:rPr>
              <a:t>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5074920"/>
            <a:ext cx="108813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0">
                <a:solidFill>
                  <a:srgbClr val="DCE2E8"/>
                </a:solidFill>
                <a:latin typeface="Calibri"/>
              </a:rPr>
              <a:t>Most local businesses live in the single digits to low teens. You're already at 14 — ahead of most rivals here. The goal isn't 80; it's ~30, which is very achievable for a local business and puts you clearly ahead of nearly every local competitor. Getting there is exactly what our backlink program does.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19963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E6A79"/>
                </a:solidFill>
                <a:latin typeface="Calibri"/>
              </a:rPr>
              <a:t>Domain Authority — Moz, June 2026   ·   Backlinks are the #1 lever for raising Domain Authority.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PROGRESS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What We've Done So Far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Deep competitive &amp; keyword-gap analysis vs your top local rival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SEO / AI-search audit + a phased action plan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Technical foundation: schema markup, llms.txt / llms-full.txt, HTTPS-canonical fixes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Service &amp; city/location landing pages built for your core markets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Full Google access connected — Business Profile, Search Console, Analytics &amp; Tag Manager — so we measure and report results from day one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Live performance tracking in place: Search Console data flowing, Domain Authority &amp; competitor monitoring active</a:t>
            </a:r>
          </a:p>
        </p:txBody>
      </p:sp>
      <p:pic>
        <p:nvPicPr>
          <p:cNvPr id="13" name="Picture 12" descr="con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2103120"/>
            <a:ext cx="3749039" cy="2496312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822960" y="56235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Foundation set — now we scale visibility, authority, and content.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Building Authority — High-Value Backlinks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Quality over volume: a few strong, locally-relevant links that lift rankings AND AI recommendations.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citations + NAP consistency across the directories that matter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Local press, community sponsorships &amp; events for authoritative mentions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Partner, supplier &amp; association links relevant to your business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“Best in {city}” roundups and local guides that AI assistants cite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Steady cadence of high-authority links each month — no spam</a:t>
            </a:r>
          </a:p>
        </p:txBody>
      </p:sp>
      <p:pic>
        <p:nvPicPr>
          <p:cNvPr id="14" name="Picture 13" descr="storefron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NEXT STEPS ·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Content &amp; Blog — Capture Ready-to-Buy Searches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182880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9AA6B4"/>
                </a:solidFill>
                <a:latin typeface="Calibri"/>
              </a:rPr>
              <a:t>Shift from curiosity content to buyer-intent content that brings customers through the door.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97480"/>
            <a:ext cx="6583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Target real transactional searches from your Google data, like "sell gold in Springfield VA", "estate jewelry buyer near me"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Expand &amp; refresh landing pages as we find new demand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2–4 new posts per month on high-intent topics, refreshed to keep ranking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b="1" sz="1500">
                <a:solidFill>
                  <a:srgbClr val="4ADE80"/>
                </a:solidFill>
              </a:rPr>
              <a:t>—  </a:t>
            </a:r>
            <a:r>
              <a:rPr sz="1500">
                <a:solidFill>
                  <a:srgbClr val="FFFFFF"/>
                </a:solidFill>
                <a:latin typeface="Calibri"/>
              </a:rPr>
              <a:t>FAQ content structured for Google snippets and AI answers</a:t>
            </a:r>
          </a:p>
        </p:txBody>
      </p:sp>
      <p:pic>
        <p:nvPicPr>
          <p:cNvPr id="14" name="Picture 13" descr="jewel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697480"/>
            <a:ext cx="3931920" cy="2624328"/>
          </a:xfrm>
          <a:prstGeom prst="rect">
            <a:avLst/>
          </a:prstGeom>
          <a:ln w="12700">
            <a:solidFill>
              <a:srgbClr val="232C39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Your 90-Day Roadmap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1  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Technical foundation, Google Business Profile, homepage rebuild, service &amp; location landing pages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9120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backlinks (raise Domain Authority), on-page depth, content cadence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2194560"/>
            <a:ext cx="3474720" cy="2468880"/>
          </a:xfrm>
          <a:prstGeom prst="roundRect">
            <a:avLst/>
          </a:prstGeom>
          <a:solidFill>
            <a:srgbClr val="121822"/>
          </a:solidFill>
          <a:ln w="9525">
            <a:solidFill>
              <a:srgbClr val="232C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138159" y="2194560"/>
            <a:ext cx="3474720" cy="640080"/>
          </a:xfrm>
          <a:prstGeom prst="round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2240280"/>
            <a:ext cx="34747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04210F"/>
                </a:solidFill>
                <a:latin typeface="Calibri"/>
              </a:rPr>
              <a:t>Month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108960"/>
            <a:ext cx="29260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AA6B4"/>
                </a:solidFill>
                <a:latin typeface="Calibri"/>
              </a:rPr>
              <a:t>Authority push, review growth, measure &amp; iterate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07492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9AA6B4"/>
                </a:solidFill>
                <a:latin typeface="Calibri"/>
              </a:rPr>
              <a:t>Goal:  </a:t>
            </a:r>
            <a:r>
              <a:rPr sz="1700" b="1">
                <a:solidFill>
                  <a:srgbClr val="4ADE80"/>
                </a:solidFill>
                <a:latin typeface="Calibri"/>
              </a:rPr>
              <a:t>500+ monthly organic visits within 6 months</a:t>
            </a:r>
            <a:r>
              <a:rPr sz="1400" b="0">
                <a:solidFill>
                  <a:srgbClr val="9AA6B4"/>
                </a:solidFill>
                <a:latin typeface="Calibri"/>
              </a:rPr>
              <a:t>   — backed by our 90-day score guarantee.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566928"/>
            <a:ext cx="201168" cy="20116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4ADE80"/>
                </a:solidFill>
                <a:latin typeface="Calibri"/>
              </a:rPr>
              <a:t>THE TRAJECTORY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89611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FFFFF"/>
                </a:solidFill>
                <a:latin typeface="Calibri"/>
              </a:rPr>
              <a:t>Projected Organic 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" y="1627632"/>
            <a:ext cx="731520" cy="50292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19088"/>
            <a:ext cx="237744" cy="2377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6400800"/>
            <a:ext cx="36576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practicerank.ai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61320" y="6400800"/>
            <a:ext cx="10058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5E6A79"/>
                </a:solidFill>
                <a:latin typeface="Calibri"/>
              </a:rPr>
              <a:t>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303520"/>
            <a:ext cx="9875519" cy="18288"/>
          </a:xfrm>
          <a:prstGeom prst="rect">
            <a:avLst/>
          </a:prstGeom>
          <a:solidFill>
            <a:srgbClr val="232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88720" y="2895055"/>
            <a:ext cx="9784080" cy="2286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2529295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4ADE80"/>
                </a:solidFill>
                <a:latin typeface="Calibri"/>
              </a:rPr>
              <a:t>Goal 520+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696772"/>
            <a:ext cx="1225295" cy="606747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312724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15184" y="4395714"/>
            <a:ext cx="1225295" cy="907805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32303" y="4011666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196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32303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41648" y="4094656"/>
            <a:ext cx="1225295" cy="1208863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58768" y="3710608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261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58768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68112" y="3793598"/>
            <a:ext cx="1225295" cy="1509921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1" y="3409550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1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94575" y="3497171"/>
            <a:ext cx="1225295" cy="1806348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5" y="3113123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11695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3196113"/>
            <a:ext cx="1225295" cy="2107406"/>
          </a:xfrm>
          <a:prstGeom prst="rect">
            <a:avLst/>
          </a:prstGeom>
          <a:solidFill>
            <a:srgbClr val="3A46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2812065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455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47504" y="2895055"/>
            <a:ext cx="1225295" cy="2408464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64624" y="2511007"/>
            <a:ext cx="15910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ADE80"/>
                </a:solidFill>
                <a:latin typeface="Calibri"/>
              </a:rPr>
              <a:t>520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64624" y="5376672"/>
            <a:ext cx="15910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9AA6B4"/>
                </a:solidFill>
                <a:latin typeface="Calibri"/>
              </a:rPr>
              <a:t>Mo 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E6A79"/>
                </a:solidFill>
                <a:latin typeface="Calibri"/>
              </a:rPr>
              <a:t>Illustrative trajectory toward the 500+ monthly-visit goal as on-page, local, and authority work compound — not a guarantee. Backed by our 90-day score-improvement guarantee.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4ADE80"/>
                </a:solidFill>
                <a:latin typeface="Calibri"/>
              </a:rPr>
              <a:t>OUR PROMISE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Calibri"/>
              </a:rPr>
              <a:t>The 90-Day Results-or-Refund Guarantee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39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If your PracticeRank Score doesn't improve by 20+ points in 90 days, we refund your monthly fees — and you keep everything we built. Month-to-month. No long-term contracts.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8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58952" y="-4251960"/>
            <a:ext cx="13716000" cy="5943600"/>
          </a:xfrm>
          <a:prstGeom prst="ellipse">
            <a:avLst/>
          </a:prstGeom>
          <a:solidFill>
            <a:srgbClr val="16213E">
              <a:alpha val="46000"/>
            </a:srgbClr>
          </a:solidFill>
          <a:ln>
            <a:noFill/>
          </a:ln>
          <a:effectLst>
            <a:softEdge rad="146304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3749039"/>
            <a:ext cx="6400800" cy="6400800"/>
          </a:xfrm>
          <a:prstGeom prst="ellipse">
            <a:avLst/>
          </a:prstGeom>
          <a:solidFill>
            <a:srgbClr val="4ADE80">
              <a:alpha val="12000"/>
            </a:srgbClr>
          </a:solidFill>
          <a:ln>
            <a:noFill/>
          </a:ln>
          <a:effectLst>
            <a:softEdge rad="164592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racticerank-logo-3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21945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800" b="1">
                <a:solidFill>
                  <a:srgbClr val="FFFFFF"/>
                </a:solidFill>
                <a:latin typeface="Calibri"/>
              </a:rPr>
              <a:t>Let's grow your visibility.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0">
                <a:solidFill>
                  <a:srgbClr val="9AA6B4"/>
                </a:solidFill>
                <a:latin typeface="Calibri"/>
              </a:rPr>
              <a:t>Found everywhere your customers search — Google, Maps, and AI.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Dan Toone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Client Relations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ADE80"/>
                </a:solidFill>
                <a:latin typeface="Calibri"/>
              </a:rPr>
              <a:t>Kody Doherty</a:t>
            </a:r>
            <a:r>
              <a:rPr sz="1800" b="0">
                <a:solidFill>
                  <a:srgbClr val="9AA6B4"/>
                </a:solidFill>
                <a:latin typeface="Calibri"/>
              </a:rPr>
              <a:t>  ·  Chief Technology Officer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9AA6B4"/>
                </a:solidFill>
                <a:latin typeface="Calibri"/>
              </a:rPr>
              <a:t>practicerank.ai  ·  kdoherty@practicerank.ai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