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ver-go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77240"/>
            <a:ext cx="12191695" cy="81248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acticerank-logo-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SEO &amp; AI-Search
Growth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86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9AA6B4"/>
                </a:solidFill>
                <a:latin typeface="Calibri"/>
              </a:rPr>
              <a:t>Prepared for </a:t>
            </a:r>
            <a:r>
              <a:rPr sz="2200" b="1">
                <a:solidFill>
                  <a:srgbClr val="4ADE80"/>
                </a:solidFill>
                <a:latin typeface="Calibri"/>
              </a:rPr>
              <a:t>Paradigm Experts</a:t>
            </a:r>
            <a:r>
              <a:rPr sz="2200" b="0">
                <a:solidFill>
                  <a:srgbClr val="9AA6B4"/>
                </a:solidFill>
                <a:latin typeface="Calibri"/>
              </a:rPr>
              <a:t>   ·   Springfield, Virginia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Gold, Silver &amp; Estate Jewelry Buyer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  ·  practicerank.ai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WHO YOU'RE WORKING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Meet Your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Dan Toone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Client Relations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Your dedicated day-to-day point of contact. Dan keeps you informed, coordinates approvals, and makes sure every deliverable ships on time — so you always know exactly what's happening and what's next.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Kody Doherty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Chief Technology Officer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Leads the technical SEO, automation, and AI-search engineering behind your growth — the systems that get you found across Google, Maps, and AI assistants.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How Customers Find You Has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People don't just “Google it” anymore. They search Google, tap the Maps 3-pack, and increasingly ask AI assistants for a recommendation. Winning today means showing up in all of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Organic rankings for the searches that bring you customers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&amp; Apple Maps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The local 3-pack — where most “near me” clicks 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19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AI Assistants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19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ChatGPT, Gemini, Perplexity &amp; Google AI recommending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OUR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A Well-Rounded Approach — Every Signal Covered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Technical SEO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On-Page SEO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Schema / Structured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39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39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Local SEO &amp; Google 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Content &amp; Authority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AI-Search (AEO)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Reviews &amp; Reputation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39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39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Conversion &amp; 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We don't do one thing well — we cover every signal Google and AI engines use to find, trust, and recommend you.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PROBLEMS WE SOLVE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Invisible in “near me” searches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Local SEO + Google Business Profile + city/neighborhood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Site doesn't tell Google what you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Keyword-rich service pages + complete schema markup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Not showing up in AI 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llms.txt, structured data &amp; AI-readable content (AEO)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Thin or off-target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Buyer-intent content + a focused blog strategy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Low domain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 few HIGH-value local backlinks + citation cleanup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Few or aging reviews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Automated review engine + reputation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Where Paradigm Experts Stands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You're being out-ranked by Alexandria Gold &amp; Silver — but the gap is closeable, and we've mapped exactly 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607040" cy="50292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65176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2651760"/>
            <a:ext cx="1463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Gap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21868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Monthly organic visits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1,281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9" y="321868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9.8x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67328"/>
            <a:ext cx="10607040" cy="658368"/>
          </a:xfrm>
          <a:prstGeom prst="roundRect">
            <a:avLst/>
          </a:prstGeom>
          <a:solidFill>
            <a:srgbClr val="08080D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3877056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“Near me” keywords (top 10)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3877056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24x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425696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4535424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Top-10 ranking keywords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59" y="4535424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4.9x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Source: competitive organic-search analysis,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AUTHORITY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Domain Authority — and Why ~30 Is the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Domain Authority (0–100) is a trust score for your website — built mostly from quality backlinks. The higher it climbs, the easier everything else ranks.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834640"/>
            <a:ext cx="32004" cy="2240279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42316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YOUR TARGET  ~30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8036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291693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31920" y="2916936"/>
            <a:ext cx="2633472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1" y="288036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46557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3465576"/>
            <a:ext cx="2048256" cy="32918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342900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7763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01421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4014215"/>
            <a:ext cx="1609344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32704" y="397763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2627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 NOVA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456285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31920" y="4562855"/>
            <a:ext cx="1463040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452627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07492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Most local businesses live in the single digits to low teens. You're already at 14 — ahead of most rivals here. The goal isn't 80; it's ~30, which is very achievable for a local business and puts you clearly ahead of nearly every local competitor. Getting there is exactly what our backlink program does.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19963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A79"/>
                </a:solidFill>
                <a:latin typeface="Calibri"/>
              </a:rPr>
              <a:t>Domain Authority — Moz, June 2026   ·   Backlinks are the #1 lever for raising Domain Authority.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We've Done So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Deep competitive &amp; keyword-gap analysis vs your top local rival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SEO / AI-search audit + a phased action plan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Technical foundation: schema markup, llms.txt / llms-full.txt, HTTPS-canonical fixes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Service &amp; city/location landing pages built for your core markets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Google access connected — Business Profile, Search Console, Analytics &amp; Tag Manager — so we measure and report results from day one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Live performance tracking in place: Search Console data flowing, Domain Authority &amp; competitor monitoring active</a:t>
            </a:r>
          </a:p>
        </p:txBody>
      </p:sp>
      <p:pic>
        <p:nvPicPr>
          <p:cNvPr id="13" name="Picture 12" descr="con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103120"/>
            <a:ext cx="3749039" cy="2496312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22960" y="56235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Foundation set — now we scale visibility, authority, and content.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PROOF OF MOMENTUM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PracticeRank Score — Already Climbing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Your PracticeRank Score (0–100) is the one number we track and guarantee — your visibility across Google, Maps, reviews &amp; AI search.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468880"/>
            <a:ext cx="2834640" cy="17830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AA6B4"/>
                </a:solidFill>
                <a:latin typeface="Calibri"/>
              </a:rPr>
              <a:t>WHERE YOU STARTED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0779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Calibri"/>
              </a:rPr>
              <a:t>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May 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788920"/>
            <a:ext cx="1188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>
                <a:solidFill>
                  <a:srgbClr val="4ADE80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3611880"/>
            <a:ext cx="1188720" cy="45720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3630168"/>
            <a:ext cx="11887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4210F"/>
                </a:solidFill>
                <a:latin typeface="Calibri"/>
              </a:rPr>
              <a:t>+14 pts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2468880"/>
            <a:ext cx="2834640" cy="1783080"/>
          </a:xfrm>
          <a:prstGeom prst="roundRect">
            <a:avLst/>
          </a:prstGeom>
          <a:solidFill>
            <a:srgbClr val="121822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26334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TODAY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90779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4ADE80"/>
                </a:solidFill>
                <a:latin typeface="Calibri"/>
              </a:rPr>
              <a:t>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93192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Jun 19  ·  and climbing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468880"/>
            <a:ext cx="3291840" cy="178308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26517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Already 14 of the 20-point lift your guarantee is built on — in just a few weeks.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WHAT MOVED 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892040"/>
            <a:ext cx="338328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029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Technical Health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79" y="5029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0 → 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44068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6B4"/>
                </a:solidFill>
                <a:latin typeface="Calibri"/>
              </a:rPr>
              <a:t>Foundation built: schema, llms.txt &amp; HTTPS-canonical fixes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34840" y="4892040"/>
            <a:ext cx="338328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5029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Content Velocity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5029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30 → 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44068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6B4"/>
                </a:solidFill>
                <a:latin typeface="Calibri"/>
              </a:rPr>
              <a:t>Service &amp; location landing pages + fresh content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4892040"/>
            <a:ext cx="338328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5029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Google Reviews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5029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64 → 95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544068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6B4"/>
                </a:solidFill>
                <a:latin typeface="Calibri"/>
              </a:rPr>
              <a:t>+31 real new reviews, holding a strong 4.8★ rating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Building Authority — High-Value Backlinks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Quality over volume: a few strong, locally-relevant links that lift rankings AND AI recommendations.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citations + NAP consistency across the directories that matter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press, community sponsorships &amp; events for authoritative mentions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Partner, supplier &amp; association links relevant to your business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“Best in {city}” roundups and local guides that AI assistants cite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Steady cadence of high-authority links each month — no spam</a:t>
            </a:r>
          </a:p>
        </p:txBody>
      </p:sp>
      <p:pic>
        <p:nvPicPr>
          <p:cNvPr id="14" name="Picture 13" descr="storefro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Content &amp; Blog — Capture Ready-to-Buy Searches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Shift from curiosity content to buyer-intent content that brings customers through the door.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Target real transactional searches from your Google data, like "sell gold in Springfield VA", "estate jewelry buyer near me"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Expand &amp; refresh landing pages as we find new demand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2–4 new posts per month on high-intent topics, refreshed to keep ranking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FAQ content structured for Google snippets and AI answers</a:t>
            </a:r>
          </a:p>
        </p:txBody>
      </p:sp>
      <p:pic>
        <p:nvPicPr>
          <p:cNvPr id="14" name="Picture 13" descr="jewel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90-Day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1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Technical foundation, Google Business Profile, homepage rebuild, service &amp; location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backlinks (raise Domain Authority), on-page depth, content cadence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59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push, review growth, measure &amp; iterate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74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9AA6B4"/>
                </a:solidFill>
                <a:latin typeface="Calibri"/>
              </a:rPr>
              <a:t>Goal:  </a:t>
            </a:r>
            <a:r>
              <a:rPr sz="1700" b="1">
                <a:solidFill>
                  <a:srgbClr val="4ADE80"/>
                </a:solidFill>
                <a:latin typeface="Calibri"/>
              </a:rPr>
              <a:t>500+ monthly organic visits within 6 months</a:t>
            </a:r>
            <a:r>
              <a:rPr sz="1400" b="0">
                <a:solidFill>
                  <a:srgbClr val="9AA6B4"/>
                </a:solidFill>
                <a:latin typeface="Calibri"/>
              </a:rPr>
              <a:t>   — backed by our 90-day score guarantee.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Projected Organic 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303520"/>
            <a:ext cx="9875519" cy="18288"/>
          </a:xfrm>
          <a:prstGeom prst="rect">
            <a:avLst/>
          </a:prstGeom>
          <a:solidFill>
            <a:srgbClr val="232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2895055"/>
            <a:ext cx="9784080" cy="2286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492719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Goal: 520+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696772"/>
            <a:ext cx="1225295" cy="606747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12724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Now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15184" y="4395714"/>
            <a:ext cx="1225295" cy="907805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2303" y="4011666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32303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4094656"/>
            <a:ext cx="1225295" cy="1208863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58768" y="3710608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68112" y="3793598"/>
            <a:ext cx="1225295" cy="1509921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1" y="3409550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1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94575" y="3497171"/>
            <a:ext cx="1225295" cy="1806348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5" y="3113123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5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3196113"/>
            <a:ext cx="1225295" cy="2107406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812065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455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47504" y="2895055"/>
            <a:ext cx="1225295" cy="240846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64624" y="2511007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520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4624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A79"/>
                </a:solidFill>
                <a:latin typeface="Calibri"/>
              </a:rPr>
              <a:t>Illustrative trajectory toward the 500+ monthly-visit goal as on-page, local, and authority work compound — not a guarantee. Backed by our 90-day score-improvement guarantee.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YOUR OPTIONS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Three Ways to Grow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3474720" cy="388620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1284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Optimize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2432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The Foundation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962656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reg. $1,500/mo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0040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4ADE80"/>
                </a:solidFill>
                <a:latin typeface="Calibri"/>
              </a:rPr>
              <a:t>$1,250</a:t>
            </a:r>
            <a:r>
              <a:rPr sz="1400" b="0">
                <a:solidFill>
                  <a:srgbClr val="9AA6B4"/>
                </a:solidFill>
                <a:latin typeface="Calibri"/>
              </a:rPr>
              <a:t>/mo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31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Keep your Webflow site — we optimize it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Local SEO + AI-search foundation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100 local citations + Google Business Profile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2 content + 1 backlink / mo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Review funnel + monthly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2011680"/>
            <a:ext cx="3474720" cy="388620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221284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Grow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62432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The Growth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962656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reg. $2,500/mo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20040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4ADE80"/>
                </a:solidFill>
                <a:latin typeface="Calibri"/>
              </a:rPr>
              <a:t>$2,000</a:t>
            </a:r>
            <a:r>
              <a:rPr sz="1400" b="0">
                <a:solidFill>
                  <a:srgbClr val="9AA6B4"/>
                </a:solidFill>
                <a:latin typeface="Calibri"/>
              </a:rPr>
              <a:t>/mo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931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Everything in Optimize, plus: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4 content + 2 backlinks / mo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Citation building + NAP cleanup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Local landing pages + keyword tracking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59" y="2011680"/>
            <a:ext cx="3474720" cy="38862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89719" y="1847088"/>
            <a:ext cx="1371600" cy="3657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19" y="1856231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4210F"/>
                </a:solidFill>
                <a:latin typeface="Calibri"/>
              </a:rPr>
              <a:t>RECOMMENDED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1284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Dominate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62432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Market Domination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962656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reg. $3,500/mo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20040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4ADE80"/>
                </a:solidFill>
                <a:latin typeface="Calibri"/>
              </a:rPr>
              <a:t>$2,500</a:t>
            </a:r>
            <a:r>
              <a:rPr sz="1400" b="0">
                <a:solidFill>
                  <a:srgbClr val="9AA6B4"/>
                </a:solidFill>
                <a:latin typeface="Calibri"/>
              </a:rPr>
              <a:t>/mo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931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Everything in Grow, plus: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4 high-authority backlinks / mo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“Best in Northern VA” comparison placements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Aggressive citations + AI authority building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05332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Founding Client rate — your first-customer pricing.  ·  Onboarding waived  ·  Webflow site improvements billed at our exact cost.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OUR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90-Day Results-or-Refund Guarantee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If your PracticeRank Score doesn't improve by 20+ points in 90 days, we refund your monthly fees — and you keep everything we built. Month-to-month. No long-term contracts.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82296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Let's grow your visibility.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Found everywhere your customers search — Google, Maps, and 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Dan Toone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Client Relations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Kody Doherty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Chief Technology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practicerank.ai  ·  kdoherty@practicerank.ai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