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acticerank-logo-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SEO &amp; AI-Search
Growth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86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A8B3C2"/>
                </a:solidFill>
                <a:latin typeface="Calibri"/>
              </a:rPr>
              <a:t>Prepared for </a:t>
            </a:r>
          </a:p>
          <a:p>
            <a:pPr algn="l">
              <a:lnSpc>
                <a:spcPct val="100000"/>
              </a:lnSpc>
            </a:pPr>
            <a:r>
              <a:rPr sz="2200" b="1">
                <a:solidFill>
                  <a:srgbClr val="4ADE80"/>
                </a:solidFill>
                <a:latin typeface="Calibri"/>
              </a:rPr>
              <a:t>Paradigm Experts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A8B3C2"/>
                </a:solidFill>
                <a:latin typeface="Calibri"/>
              </a:rPr>
              <a:t>   ·   Springfield, Virginia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72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8B3C2"/>
                </a:solidFill>
                <a:latin typeface="Calibri"/>
              </a:rPr>
              <a:t>Gold, Silver &amp; Estate Jewelry Buyer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8B3C2"/>
                </a:solidFill>
                <a:latin typeface="Calibri"/>
              </a:rPr>
              <a:t>PracticeRank  ·  practicerank.ai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WHO YOU'RE WORKING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Meet Your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822960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49240" cy="338328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2423160"/>
            <a:ext cx="822960" cy="8229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0F1620"/>
                </a:solidFill>
                <a:latin typeface="Calibri"/>
              </a:rP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3774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Dan Toone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834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Client Relations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74720"/>
            <a:ext cx="4572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B3C2"/>
                </a:solidFill>
                <a:latin typeface="Calibri"/>
              </a:rPr>
              <a:t>Your dedicated day-to-day point of contact. Dan keeps you informed, coordinates approvals, and makes sure every deliverable ships on time — so you always know exactly what's happening and what's next.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011680"/>
            <a:ext cx="5349240" cy="338328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0" y="2423160"/>
            <a:ext cx="822960" cy="8229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468880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0F1620"/>
                </a:solidFill>
                <a:latin typeface="Calibri"/>
              </a:rPr>
              <a:t>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3774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Kody Doherty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834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Chief Technology Officer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474720"/>
            <a:ext cx="4572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B3C2"/>
                </a:solidFill>
                <a:latin typeface="Calibri"/>
              </a:rPr>
              <a:t>Leads the technical SEO, automation, and AI-search engineering behind your growth — the systems that get you found across Google, Maps, and AI assistants.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How Customers Find You Has Changed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822960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A8B3C2"/>
                </a:solidFill>
                <a:latin typeface="Calibri"/>
              </a:rPr>
              <a:t>People don't just “Google it” anymore. They search Google, tap the Maps 3-pack, and increasingly ask AI assistants for a recommendation. Winning today means showing up in all of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3474720" cy="237744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33832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ADE80"/>
                </a:solidFill>
                <a:latin typeface="Calibri"/>
              </a:rPr>
              <a:t>Google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4069080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B3C2"/>
                </a:solidFill>
                <a:latin typeface="Calibri"/>
              </a:rPr>
              <a:t>Organic rankings for the searches that bring you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108960"/>
            <a:ext cx="3474720" cy="237744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33832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ADE80"/>
                </a:solidFill>
                <a:latin typeface="Calibri"/>
              </a:rPr>
              <a:t>Google &amp; Apple 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4069080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B3C2"/>
                </a:solidFill>
                <a:latin typeface="Calibri"/>
              </a:rPr>
              <a:t>The local 3-pack — where most “near me” clicks 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3108960"/>
            <a:ext cx="3474720" cy="237744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199" y="33832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ADE80"/>
                </a:solidFill>
                <a:latin typeface="Calibri"/>
              </a:rPr>
              <a:t>AI Assistants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199" y="4069080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B3C2"/>
                </a:solidFill>
                <a:latin typeface="Calibri"/>
              </a:rPr>
              <a:t>ChatGPT, Gemini, Perplexity &amp; Google AI recommending you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OUR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A Well-Rounded Approach — Every Signal Covered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822960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2606040" cy="132588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Technical SEO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03120"/>
            <a:ext cx="2606040" cy="132588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28600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On-Page SEO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2606040" cy="132588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Schema / Structured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39" y="2103120"/>
            <a:ext cx="2606040" cy="132588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39" y="228600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Local SEO &amp; Google Profile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2606040" cy="132588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4048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Content &amp; Authority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657600"/>
            <a:ext cx="2606040" cy="132588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84048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AI-Search (AEO)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2606040" cy="132588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84048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Reviews &amp; Reputation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39" y="3657600"/>
            <a:ext cx="2606040" cy="132588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39" y="384048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Conversion &amp; 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4406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8B3C2"/>
                </a:solidFill>
                <a:latin typeface="Calibri"/>
              </a:rPr>
              <a:t>We don't do one thing well — we cover every signal Google and AI engines use to find, trust, and recommend you.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THE PROBLEMS WE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What We 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822960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49240" cy="123444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✗  Invisible in “near me” searches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7004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DE80"/>
                </a:solidFill>
                <a:latin typeface="Calibri"/>
              </a:rPr>
              <a:t>→  Local SEO + Google Business Profile + city/neighborhood 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011680"/>
            <a:ext cx="5349240" cy="123444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7627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✗  Site doesn't tell Google what you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7004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DE80"/>
                </a:solidFill>
                <a:latin typeface="Calibri"/>
              </a:rPr>
              <a:t>→  Keyword-rich service pages + complete schema markup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29000"/>
            <a:ext cx="5349240" cy="123444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9359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✗  Not showing up in AI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8736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DE80"/>
                </a:solidFill>
                <a:latin typeface="Calibri"/>
              </a:rPr>
              <a:t>→  llms.txt, structured data &amp; AI-readable content (AEO)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429000"/>
            <a:ext cx="5349240" cy="123444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59359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✗  Thin or off-target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08736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DE80"/>
                </a:solidFill>
                <a:latin typeface="Calibri"/>
              </a:rPr>
              <a:t>→  Buyer-intent content + a focused blog strategy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46320"/>
            <a:ext cx="5349240" cy="123444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✗  Low domain authority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0468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DE80"/>
                </a:solidFill>
                <a:latin typeface="Calibri"/>
              </a:rPr>
              <a:t>→  A few HIGH-value local backlinks + citation cleanup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4846320"/>
            <a:ext cx="5349240" cy="123444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50109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✗  Few or aging reviews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50468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DE80"/>
                </a:solidFill>
                <a:latin typeface="Calibri"/>
              </a:rPr>
              <a:t>→  Automated review engine + reputation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Where Paradigm Experts Stands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822960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8B3C2"/>
                </a:solidFill>
                <a:latin typeface="Calibri"/>
              </a:rPr>
              <a:t>You're being out-ranked by Alexandria Gold &amp; Silver — but the gap is closeable, and we've mapped exactly how.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607040" cy="502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65176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65176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Paradigm Experts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65176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Alexandria Gold &amp; Silver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9" y="2651760"/>
            <a:ext cx="1463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Gap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10607040" cy="658368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218688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8B3C2"/>
                </a:solidFill>
                <a:latin typeface="Calibri"/>
              </a:rPr>
              <a:t>Monthly organic visits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18688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131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218688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ADE80"/>
                </a:solidFill>
                <a:latin typeface="Calibri"/>
              </a:rPr>
              <a:t>1,281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59" y="3218688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4ADE80"/>
                </a:solidFill>
                <a:latin typeface="Calibri"/>
              </a:rPr>
              <a:t>9.8x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67328"/>
            <a:ext cx="10607040" cy="658368"/>
          </a:xfrm>
          <a:prstGeom prst="round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77056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8B3C2"/>
                </a:solidFill>
                <a:latin typeface="Calibri"/>
              </a:rPr>
              <a:t>“Near me” keywords (top 10)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877056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877056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ADE80"/>
                </a:solidFill>
                <a:latin typeface="Calibri"/>
              </a:rPr>
              <a:t>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59" y="3877056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4ADE80"/>
                </a:solidFill>
                <a:latin typeface="Calibri"/>
              </a:rPr>
              <a:t>24x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25696"/>
            <a:ext cx="10607040" cy="658368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4535424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8B3C2"/>
                </a:solidFill>
                <a:latin typeface="Calibri"/>
              </a:rPr>
              <a:t>Top-10 ranking keywords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535424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535424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ADE80"/>
                </a:solidFill>
                <a:latin typeface="Calibri"/>
              </a:rPr>
              <a:t>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59" y="4535424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4ADE80"/>
                </a:solidFill>
                <a:latin typeface="Calibri"/>
              </a:rPr>
              <a:t>4.9x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989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8B3C2"/>
                </a:solidFill>
                <a:latin typeface="Calibri"/>
              </a:rPr>
              <a:t>Source: Semrush organic research, 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Your Domain Authority vs. The Competition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822960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931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CASH FOR GOLD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112264"/>
            <a:ext cx="5212080" cy="38404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2112264"/>
            <a:ext cx="4690872" cy="384048"/>
          </a:xfrm>
          <a:prstGeom prst="rect">
            <a:avLst/>
          </a:prstGeom>
          <a:solidFill>
            <a:srgbClr val="5A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5480" y="205740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A8B3C2"/>
                </a:solidFill>
                <a:latin typeface="Calibr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70632"/>
            <a:ext cx="3931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ADE80"/>
                </a:solidFill>
                <a:latin typeface="Calibri"/>
              </a:rPr>
              <a:t>Paradigm Experts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825496"/>
            <a:ext cx="5212080" cy="38404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2825496"/>
            <a:ext cx="3648456" cy="38404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3063" y="2770632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ADE80"/>
                </a:solidFill>
                <a:latin typeface="Calibri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83864"/>
            <a:ext cx="3931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Alexandria Gold &amp; Silver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538728"/>
            <a:ext cx="5212080" cy="38404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3538728"/>
            <a:ext cx="2866644" cy="384048"/>
          </a:xfrm>
          <a:prstGeom prst="rect">
            <a:avLst/>
          </a:prstGeom>
          <a:solidFill>
            <a:srgbClr val="5A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1252" y="3483864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A8B3C2"/>
                </a:solidFill>
                <a:latin typeface="Calibr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97096"/>
            <a:ext cx="3931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Cash for Gold NOVA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4251959"/>
            <a:ext cx="5212080" cy="38404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4251959"/>
            <a:ext cx="2606040" cy="384048"/>
          </a:xfrm>
          <a:prstGeom prst="rect">
            <a:avLst/>
          </a:prstGeom>
          <a:solidFill>
            <a:srgbClr val="5A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0648" y="4197096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A8B3C2"/>
                </a:solidFill>
                <a:latin typeface="Calibr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A8B3C2"/>
                </a:solidFill>
                <a:latin typeface="Calibri"/>
              </a:rPr>
              <a:t>You already out-rank Alexandria on Domain Authority (14 vs 11) — yet they pull ~10x your traffic. That proves the gap is on-page &amp; local, not authority. We close that gap AND push your DA past the market leader to lock in the lead.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8B3C2"/>
                </a:solidFill>
                <a:latin typeface="Calibri"/>
              </a:rPr>
              <a:t>Domain Authority — Moz,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0116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DE80"/>
                </a:solidFill>
                <a:latin typeface="Calibri"/>
              </a:rPr>
              <a:t>HOW WE GROW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2423160"/>
            <a:ext cx="3291840" cy="45720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450592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High-value local links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2990088"/>
            <a:ext cx="3291840" cy="45720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01752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Citation building + cleanup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557015"/>
            <a:ext cx="3291840" cy="45720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584448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Local press &amp; sponsorships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4123944"/>
            <a:ext cx="3291840" cy="45720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151376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Partner / supplier links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What We've Done So Far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822960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4ADE80"/>
                </a:solidFill>
              </a:rPr>
              <a:t>—  </a:t>
            </a:r>
            <a:r>
              <a:rPr sz="1800">
                <a:solidFill>
                  <a:srgbClr val="FFFFFF"/>
                </a:solidFill>
                <a:latin typeface="Calibri"/>
              </a:rPr>
              <a:t>Deep competitive &amp; keyword-gap analysis vs your top local rival (Semrush)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4ADE80"/>
                </a:solidFill>
              </a:rPr>
              <a:t>—  </a:t>
            </a:r>
            <a:r>
              <a:rPr sz="1800">
                <a:solidFill>
                  <a:srgbClr val="FFFFFF"/>
                </a:solidFill>
                <a:latin typeface="Calibri"/>
              </a:rPr>
              <a:t>Full SEO / AI-search audit + a phased action plan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4ADE80"/>
                </a:solidFill>
              </a:rPr>
              <a:t>—  </a:t>
            </a:r>
            <a:r>
              <a:rPr sz="1800">
                <a:solidFill>
                  <a:srgbClr val="FFFFFF"/>
                </a:solidFill>
                <a:latin typeface="Calibri"/>
              </a:rPr>
              <a:t>Technical foundation: schema markup, llms.txt / llms-full.txt, HTTPS-canonical fixes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4ADE80"/>
                </a:solidFill>
              </a:rPr>
              <a:t>—  </a:t>
            </a:r>
            <a:r>
              <a:rPr sz="1800">
                <a:solidFill>
                  <a:srgbClr val="FFFFFF"/>
                </a:solidFill>
                <a:latin typeface="Calibri"/>
              </a:rPr>
              <a:t>Google Business Profile access secured — category, services &amp; service-area optimization underway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ADE80"/>
                </a:solidFill>
                <a:latin typeface="Calibri"/>
              </a:rPr>
              <a:t>Foundation set — now we scale visibility, authority, and content.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NEXT STEPS ·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Building Authority — High-Value Backlinks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822960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8B3C2"/>
                </a:solidFill>
                <a:latin typeface="Calibri"/>
              </a:rPr>
              <a:t>Quality over volume: a few strong, locally-relevant links that lift rankings AND AI recommendations.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600">
                <a:solidFill>
                  <a:srgbClr val="4ADE80"/>
                </a:solidFill>
              </a:rPr>
              <a:t>—  </a:t>
            </a:r>
            <a:r>
              <a:rPr sz="1600">
                <a:solidFill>
                  <a:srgbClr val="FFFFFF"/>
                </a:solidFill>
                <a:latin typeface="Calibri"/>
              </a:rPr>
              <a:t>Local citations + NAP consistency across the directories that matter (industry + general)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600">
                <a:solidFill>
                  <a:srgbClr val="4ADE80"/>
                </a:solidFill>
              </a:rPr>
              <a:t>—  </a:t>
            </a:r>
            <a:r>
              <a:rPr sz="1600">
                <a:solidFill>
                  <a:srgbClr val="FFFFFF"/>
                </a:solidFill>
                <a:latin typeface="Calibri"/>
              </a:rPr>
              <a:t>Local press, community sponsorships &amp; events for authoritative local mentions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600">
                <a:solidFill>
                  <a:srgbClr val="4ADE80"/>
                </a:solidFill>
              </a:rPr>
              <a:t>—  </a:t>
            </a:r>
            <a:r>
              <a:rPr sz="1600">
                <a:solidFill>
                  <a:srgbClr val="FFFFFF"/>
                </a:solidFill>
                <a:latin typeface="Calibri"/>
              </a:rPr>
              <a:t>Partner, supplier &amp; association links relevant to your business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600">
                <a:solidFill>
                  <a:srgbClr val="4ADE80"/>
                </a:solidFill>
              </a:rPr>
              <a:t>—  </a:t>
            </a:r>
            <a:r>
              <a:rPr sz="1600">
                <a:solidFill>
                  <a:srgbClr val="FFFFFF"/>
                </a:solidFill>
                <a:latin typeface="Calibri"/>
              </a:rPr>
              <a:t>“Best in {city}” roundups and local guides that AI assistants cite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600">
                <a:solidFill>
                  <a:srgbClr val="4ADE80"/>
                </a:solidFill>
              </a:rPr>
              <a:t>—  </a:t>
            </a:r>
            <a:r>
              <a:rPr sz="1600">
                <a:solidFill>
                  <a:srgbClr val="FFFFFF"/>
                </a:solidFill>
                <a:latin typeface="Calibri"/>
              </a:rPr>
              <a:t>Steady cadence of high-authority links each month — no spam, no risky tactics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NEXT STEPS ·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Content &amp; Blog — Capture Ready-to-Buy Searches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822960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8B3C2"/>
                </a:solidFill>
                <a:latin typeface="Calibri"/>
              </a:rPr>
              <a:t>Shift from curiosity content to buyer-intent content that brings customers through the door.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600">
                <a:solidFill>
                  <a:srgbClr val="4ADE80"/>
                </a:solidFill>
              </a:rPr>
              <a:t>—  </a:t>
            </a:r>
            <a:r>
              <a:rPr sz="1600">
                <a:solidFill>
                  <a:srgbClr val="FFFFFF"/>
                </a:solidFill>
                <a:latin typeface="Calibri"/>
              </a:rPr>
              <a:t>Target transactional searches like "sell gold in Springfield VA", "estate jewelry buyer near me", "where to sell silver Northern Virginia"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600">
                <a:solidFill>
                  <a:srgbClr val="4ADE80"/>
                </a:solidFill>
              </a:rPr>
              <a:t>—  </a:t>
            </a:r>
            <a:r>
              <a:rPr sz="1600">
                <a:solidFill>
                  <a:srgbClr val="FFFFFF"/>
                </a:solidFill>
                <a:latin typeface="Calibri"/>
              </a:rPr>
              <a:t>City &amp; service landing pages for every area you serve (Springfield · Arlington · McLean · Fairfax · Alexandria · Lorton · DC)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600">
                <a:solidFill>
                  <a:srgbClr val="4ADE80"/>
                </a:solidFill>
              </a:rPr>
              <a:t>—  </a:t>
            </a:r>
            <a:r>
              <a:rPr sz="1600">
                <a:solidFill>
                  <a:srgbClr val="FFFFFF"/>
                </a:solidFill>
                <a:latin typeface="Calibri"/>
              </a:rPr>
              <a:t>2–4 new posts per month on high-intent topics, refreshed so they stay ranking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600">
                <a:solidFill>
                  <a:srgbClr val="4ADE80"/>
                </a:solidFill>
              </a:rPr>
              <a:t>—  </a:t>
            </a:r>
            <a:r>
              <a:rPr sz="1600">
                <a:solidFill>
                  <a:srgbClr val="FFFFFF"/>
                </a:solidFill>
                <a:latin typeface="Calibri"/>
              </a:rPr>
              <a:t>FAQ content structured for Google snippets and AI answers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Your 90-Day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822960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474720" cy="246888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3474720" cy="64008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F1620"/>
                </a:solidFill>
                <a:latin typeface="Calibri"/>
              </a:rPr>
              <a:t>Month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A8B3C2"/>
                </a:solidFill>
                <a:latin typeface="Calibri"/>
              </a:rPr>
              <a:t>Technical foundation, Google Business Profile, homepage rebuild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94560"/>
            <a:ext cx="3474720" cy="246888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2194560"/>
            <a:ext cx="3474720" cy="64008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240280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F1620"/>
                </a:solidFill>
                <a:latin typeface="Calibri"/>
              </a:rPr>
              <a:t>Month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0896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A8B3C2"/>
                </a:solidFill>
                <a:latin typeface="Calibri"/>
              </a:rPr>
              <a:t>City / service landing pages, first authority links, content cadence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2194560"/>
            <a:ext cx="3474720" cy="2468880"/>
          </a:xfrm>
          <a:prstGeom prst="round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2194560"/>
            <a:ext cx="3474720" cy="64008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2240280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F1620"/>
                </a:solidFill>
                <a:latin typeface="Calibri"/>
              </a:rPr>
              <a:t>Month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10896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A8B3C2"/>
                </a:solidFill>
                <a:latin typeface="Calibri"/>
              </a:rPr>
              <a:t>Authority push, review growth, measure &amp; iterate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0292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A8B3C2"/>
                </a:solidFill>
                <a:latin typeface="Calibri"/>
              </a:rPr>
              <a:t>Target:  </a:t>
            </a:r>
          </a:p>
          <a:p>
            <a:pPr algn="l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Calibri"/>
              </a:rPr>
              <a:t>500+ monthly organic visits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ADE80"/>
                </a:solidFill>
                <a:latin typeface="Calibri"/>
              </a:rPr>
              <a:t>OUR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The 90-Day Results-or-Refund Guarantee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418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A8B3C2"/>
                </a:solidFill>
                <a:latin typeface="Calibri"/>
              </a:rPr>
              <a:t>If your PracticeRank Score doesn't improve by 20+ points in 90 days, we refund your monthly fees — and you keep everything we built. Month-to-month. No long-term contracts.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acticerank-logo-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82296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9456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Calibri"/>
              </a:rPr>
              <a:t>Let's grow your visibility.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A8B3C2"/>
                </a:solidFill>
                <a:latin typeface="Calibri"/>
              </a:rPr>
              <a:t>Found everywhere your customers search — Google, Maps, and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Calibri"/>
              </a:rPr>
              <a:t>Dan Toone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A8B3C2"/>
                </a:solidFill>
                <a:latin typeface="Calibri"/>
              </a:rPr>
              <a:t>  ·  Client Relations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Calibri"/>
              </a:rPr>
              <a:t>Kody Doherty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A8B3C2"/>
                </a:solidFill>
                <a:latin typeface="Calibri"/>
              </a:rPr>
              <a:t>  ·  Chief Technology Officer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A8B3C2"/>
                </a:solidFill>
                <a:latin typeface="Calibri"/>
              </a:rPr>
              <a:t>practicerank.ai  ·  kdoherty@practicerank.ai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